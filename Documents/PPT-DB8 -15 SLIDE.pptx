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34D7D-382B-4E04-AFC5-53E0375D9FB6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3FBDD-3EFC-42F9-833C-52E1A90E77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2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3FBDD-3EFC-42F9-833C-52E1A90E771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78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3AD2-8C4A-9821-AAAC-7E103E855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905DD-8278-F9B5-E6CA-F4F9F52E1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B601A-E7ED-CB8E-EF2F-C6BC812A9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E0A5-AF03-073D-0DCF-DF928A32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D731-B10F-C233-A271-0F846598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23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18EB-B113-72FA-BDB5-1534D686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3801-B6E1-9603-C7C3-6CA1B73E7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9EAC3-14CE-5AED-EBBA-524E389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116E-C9C6-A170-195A-12C69AC8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E9DFF-8E44-CFA0-9AFD-830BE0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94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1376-5A2E-6677-4087-F28D6F50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9898D-0B77-32E8-5442-325E468C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58CC-ABCE-B78D-B8C7-C265C01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76DED-79CE-EA5E-6C63-9CF27372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DE22-0795-65D4-1184-06E2E351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2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71A1-1674-52C8-ECD4-92A93472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2A5E-3929-3271-AC24-DF4F4C7D4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36B7-607B-853B-F7DF-4BDA36D39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E313F-EC56-15C2-596E-733070BE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90433-FB9E-9DE0-9B31-41B9260C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218-F270-121B-1B4D-D93A8D83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7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D2BC-0C65-28B8-E5E3-456B3B41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D9D8-BE10-9455-7209-A9B03923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B2E2-CFD2-F1D3-B465-F4E980D3D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6332C1-1C50-08F9-1F10-E511030B8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5FB9B-F2E2-7881-D3D3-EF047359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F4199-B492-4C34-9D0F-5953D38B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326D4-E240-8193-7ED4-3102E9B4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AB64-DDC5-BB23-E175-EF8B1CB1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2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D139C-CE67-82AE-954A-6185AF9E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AE0E0-EE7B-F153-2702-C2CA5E01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1824A-E2F0-CB58-19FC-7B918942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E26FC-CD2E-7DEC-AFD1-BA69CF60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2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76821F-98EF-7E46-8A33-973D9AEE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D3029-5B0D-1739-FD6F-E4D7F8FB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E61D0-197D-B2B2-49DD-E37C54B6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7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0E689-EB6F-CFF6-84D9-949B4DE2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6BAE-3DC6-A03E-B4D6-46C99E634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4DCF4-FDD7-97A2-758A-B3252E5EC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BDE6-2D92-DACF-17A5-F997EF8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47FFD-6C20-30CE-9760-FD39F0145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1A678-F8D2-AAB7-14A7-DEE217DC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059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FD9DC-5F58-7025-893F-1DAFB6E6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EC55B-420A-3B1E-A68A-7E3AADA8A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CBD78-2057-5A67-5000-9E0D5B3F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FB661-0ABE-74F8-2444-4429D24CA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A8186-798B-531D-D910-29870272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7543-963E-82A2-BF04-B8473648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2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6283-85B9-AC00-0E4F-20E27C5D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9364C-06F5-6E60-89F6-BE3D3CD1C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8B14D-5107-01B3-115B-E1FB801E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EF9E-2ECE-FDD3-3DF1-06ADF33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59C63-8F45-E0A1-2618-05D2A98C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FE5C0-89AA-EAA6-CE5D-8DE05E154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E9EA8-6033-A9D4-F937-E051CD083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451C-7A4C-8AF7-A61A-671DE2EB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0A70-B8A1-54DF-B5BA-0FB755B2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3DB8-D4A2-AF2E-7109-8AEA85E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641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5DCBB-6F10-ED9A-9075-252DD0BF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586F1-754D-953B-56D9-8D39C11F1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2AA8E-E7FC-649F-E159-A0E498534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5CFDC-8ACB-436C-8AA1-D7A53CB73F5C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D6950-29F4-F30B-2E7C-793287A71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B3C7C-4A36-7024-ED42-3C90E84B7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B606F-A890-40C9-9B32-5BB465099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3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29FF46-934D-281C-4788-4DBBD1732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155" y="340382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IEEE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iSSSC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83C19-D74C-6BAB-F2B0-CB88756A2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6801" y="1142013"/>
            <a:ext cx="8949689" cy="5046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IEEE 3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Symposium on Sustainable Energy, Signal Processing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77B052-A708-C74F-78C4-27D5A6152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5690" y="2058498"/>
            <a:ext cx="2554872" cy="1690745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A244468-B6C5-31B2-D3D9-194999B73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3393" y="2058498"/>
            <a:ext cx="2625213" cy="1690746"/>
          </a:xfrm>
          <a:prstGeom prst="rect">
            <a:avLst/>
          </a:prstGeom>
          <a:noFill/>
        </p:spPr>
      </p:pic>
      <p:pic>
        <p:nvPicPr>
          <p:cNvPr id="8" name="Picture 4" descr="Future Archives - GIET University | Odisha | Gunupur">
            <a:extLst>
              <a:ext uri="{FF2B5EF4-FFF2-40B4-BE49-F238E27FC236}">
                <a16:creationId xmlns:a16="http://schemas.microsoft.com/office/drawing/2014/main" id="{9896EF33-D53E-025C-9029-9B7C4F96B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57779" y="1940290"/>
            <a:ext cx="2318144" cy="19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EEE-iSSSC 2025">
            <a:extLst>
              <a:ext uri="{FF2B5EF4-FFF2-40B4-BE49-F238E27FC236}">
                <a16:creationId xmlns:a16="http://schemas.microsoft.com/office/drawing/2014/main" id="{2BAD6A66-FA72-E39F-9434-A393452A7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PECTEA 2025">
            <a:extLst>
              <a:ext uri="{FF2B5EF4-FFF2-40B4-BE49-F238E27FC236}">
                <a16:creationId xmlns:a16="http://schemas.microsoft.com/office/drawing/2014/main" id="{A5E7BF9E-3CF7-E17C-3082-225729AF854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6" t="27047" r="9252" b="24555"/>
          <a:stretch/>
        </p:blipFill>
        <p:spPr bwMode="auto">
          <a:xfrm>
            <a:off x="1" y="12481"/>
            <a:ext cx="1238864" cy="76386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DFEB3E-6DE8-7160-DA14-35C64272770B}"/>
              </a:ext>
            </a:extLst>
          </p:cNvPr>
          <p:cNvSpPr txBox="1"/>
          <p:nvPr/>
        </p:nvSpPr>
        <p:spPr>
          <a:xfrm>
            <a:off x="1621155" y="4883301"/>
            <a:ext cx="9173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dirty="0" err="1"/>
              <a:t>A</a:t>
            </a:r>
            <a:r>
              <a:rPr lang="en-US" dirty="0"/>
              <a:t> Lightweight Attention-Enhanced Deep Learning Model Based on MobileNetV2 for Lung Cancer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Name:Akhil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Duddi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  <a:r>
              <a:rPr lang="en-IN" dirty="0"/>
              <a:t>Dodda </a:t>
            </a:r>
            <a:r>
              <a:rPr lang="en-IN" dirty="0" err="1"/>
              <a:t>Venkatreddy</a:t>
            </a:r>
            <a:r>
              <a:rPr lang="en-IN" dirty="0"/>
              <a:t>, Akhil Duddi, Silar Shaik, </a:t>
            </a:r>
            <a:r>
              <a:rPr lang="en-IN" dirty="0" err="1"/>
              <a:t>Paleti</a:t>
            </a:r>
            <a:r>
              <a:rPr lang="en-IN" dirty="0"/>
              <a:t> Rahul, </a:t>
            </a:r>
            <a:r>
              <a:rPr lang="en-IN" dirty="0" err="1"/>
              <a:t>Jajimoggala</a:t>
            </a:r>
            <a:r>
              <a:rPr lang="en-IN" dirty="0"/>
              <a:t> Sravanthi, </a:t>
            </a:r>
            <a:r>
              <a:rPr lang="en-IN" dirty="0" err="1"/>
              <a:t>Vippalapalli</a:t>
            </a:r>
            <a:r>
              <a:rPr lang="en-IN" dirty="0"/>
              <a:t> Vikas, K.V. Narasimha Reddy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</a:t>
            </a:r>
            <a:r>
              <a:rPr lang="en-US" dirty="0" err="1"/>
              <a:t>Dept</a:t>
            </a:r>
            <a:r>
              <a:rPr lang="en-US" dirty="0"/>
              <a:t>. of CSE, </a:t>
            </a:r>
            <a:r>
              <a:rPr lang="en-US" dirty="0" err="1"/>
              <a:t>Narasaraopeta</a:t>
            </a:r>
            <a:r>
              <a:rPr lang="en-US" dirty="0"/>
              <a:t> Engineering College </a:t>
            </a:r>
            <a:r>
              <a:rPr lang="en-US"/>
              <a:t>Jntuk, </a:t>
            </a:r>
            <a:r>
              <a:rPr lang="en-US" dirty="0"/>
              <a:t>India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91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Future Archives - GIET University | Odisha | Gunupur">
            <a:extLst>
              <a:ext uri="{FF2B5EF4-FFF2-40B4-BE49-F238E27FC236}">
                <a16:creationId xmlns:a16="http://schemas.microsoft.com/office/drawing/2014/main" id="{2D5BAE0E-0F08-84DE-3066-AE05EF89A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7" b="2351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Rectangle 10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BCE52-8982-A32D-4BD8-8DD41860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13C824D-6EB4-27E7-1EC5-1B447645B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4123764"/>
          </a:xfrm>
        </p:spPr>
      </p:pic>
    </p:spTree>
    <p:extLst>
      <p:ext uri="{BB962C8B-B14F-4D97-AF65-F5344CB8AC3E}">
        <p14:creationId xmlns:p14="http://schemas.microsoft.com/office/powerpoint/2010/main" val="265556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85B2-8646-AEDA-0D23-98C44F196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031811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4855-2422-AC96-3591-86B2582C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863835"/>
            <a:ext cx="9688296" cy="3956862"/>
          </a:xfrm>
        </p:spPr>
        <p:txBody>
          <a:bodyPr anchor="t">
            <a:norm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FFC9DEF9-0C7F-75E8-9A7B-1D53386BB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C6B6D1-F329-C418-97D3-9D5C20469C0C}"/>
              </a:ext>
            </a:extLst>
          </p:cNvPr>
          <p:cNvSpPr txBox="1"/>
          <p:nvPr/>
        </p:nvSpPr>
        <p:spPr>
          <a:xfrm>
            <a:off x="1268360" y="2323237"/>
            <a:ext cx="105303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Lung cancer is one of the leading causes of cancer-related deaths.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CT imaging is commonly used for diagnosis but prone to human error.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Deep learning, especially CNNs, enhances detection accuracy.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However, standard CNNs struggle with feature focus and computational load.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Aim: Develop a lightweight and interpretable model using MobileNetV2 with attention mechanism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143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6E636-A5B2-1EAA-C50D-F62EB581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Motivation &amp; Core Contribution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948299AC-D90A-71FC-201D-6A755B7D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C62A11-131E-28AF-E298-FE4513B79305}"/>
              </a:ext>
            </a:extLst>
          </p:cNvPr>
          <p:cNvSpPr txBox="1"/>
          <p:nvPr/>
        </p:nvSpPr>
        <p:spPr>
          <a:xfrm>
            <a:off x="1136396" y="2795566"/>
            <a:ext cx="103870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Need for early, efficient, and accurate lung cancer diagnosis.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Traditional CNNs are computationally heavy and lack interpretability.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Proposed contributions:</a:t>
            </a:r>
          </a:p>
          <a:p>
            <a:r>
              <a:rPr lang="en-US" sz="2000" dirty="0"/>
              <a:t>	Attention-enhanced MobileNetV2 for feature focus.</a:t>
            </a:r>
          </a:p>
          <a:p>
            <a:r>
              <a:rPr lang="en-US" sz="2000" dirty="0"/>
              <a:t>	High accuracy (96%) with low computational cost.</a:t>
            </a:r>
          </a:p>
          <a:p>
            <a:r>
              <a:rPr lang="en-US" sz="2000" dirty="0"/>
              <a:t>	Integration of Grad-CAM and LIME for explainability.</a:t>
            </a:r>
          </a:p>
          <a:p>
            <a:r>
              <a:rPr lang="en-US" sz="2000" dirty="0"/>
              <a:t>	Demonstrated robustness through data augmentation and preprocessing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7974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48CFE2-EF8B-FF79-F58E-C4356E89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5199817-DE9E-7449-7585-440E56EF6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72B1A-26A5-699F-90D3-ED1A3C70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Literature Review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553278-C897-96FC-2F2D-B52D4923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F056B-1E9B-DCC1-7091-DEC92C0AA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CE1A5B9-DD33-247B-5C69-021BA43E8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8A5CC8-A9BE-8EDE-2FC7-009D4E5CFC53}"/>
              </a:ext>
            </a:extLst>
          </p:cNvPr>
          <p:cNvSpPr txBox="1"/>
          <p:nvPr/>
        </p:nvSpPr>
        <p:spPr>
          <a:xfrm>
            <a:off x="1136397" y="2632625"/>
            <a:ext cx="100485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Prior works explored CNNs, SVMs, and hybrid models for lung cancer detection.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Early studies (Reem et al., Firdaus et al.) showed CNN effectiveness on CT scans.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Hybrid approaches combining texture features and deep learning improved accuracy.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Transfer learning models like </a:t>
            </a:r>
            <a:r>
              <a:rPr lang="en-IN" sz="2000" dirty="0" err="1"/>
              <a:t>EfficientNet</a:t>
            </a:r>
            <a:r>
              <a:rPr lang="en-IN" sz="2000" dirty="0"/>
              <a:t> and </a:t>
            </a:r>
            <a:r>
              <a:rPr lang="en-IN" sz="2000" dirty="0" err="1"/>
              <a:t>DenseNet</a:t>
            </a:r>
            <a:r>
              <a:rPr lang="en-IN" sz="2000" dirty="0"/>
              <a:t> show promise but are heavy.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Few studies focus on lightweight, interpretable models for clinical use.</a:t>
            </a:r>
          </a:p>
        </p:txBody>
      </p:sp>
    </p:spTree>
    <p:extLst>
      <p:ext uri="{BB962C8B-B14F-4D97-AF65-F5344CB8AC3E}">
        <p14:creationId xmlns:p14="http://schemas.microsoft.com/office/powerpoint/2010/main" val="397755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0B7D-33C4-EF12-2AB3-BD943D8E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C4FFF6F-CE43-2282-CB86-892BBCBAC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FEED8E-49C3-2CAA-5BD6-FCCFFA8F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pPr lvl="0">
              <a:lnSpc>
                <a:spcPct val="16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System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4E1D6D-58D9-F76F-1DFA-D23B9824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F5D451-4F81-0AE9-A7FF-245565B6A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8383026-8464-EC8F-5F64-3369AD918C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B8804-4BE8-DB67-8914-91FC7A8C7ECB}"/>
              </a:ext>
            </a:extLst>
          </p:cNvPr>
          <p:cNvSpPr txBox="1"/>
          <p:nvPr/>
        </p:nvSpPr>
        <p:spPr>
          <a:xfrm>
            <a:off x="1136397" y="2413337"/>
            <a:ext cx="98659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Framework uses MobileNetV2 as the base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Integrated attention mechanism for spatial and channel focus.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Uses </a:t>
            </a:r>
            <a:r>
              <a:rPr lang="en-IN" sz="2000" dirty="0" err="1"/>
              <a:t>depthwise</a:t>
            </a:r>
            <a:r>
              <a:rPr lang="en-IN" sz="2000" dirty="0"/>
              <a:t> separable convolutions for reduced computation.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Architecture includes:</a:t>
            </a:r>
          </a:p>
          <a:p>
            <a:r>
              <a:rPr lang="en-IN" sz="2000" dirty="0"/>
              <a:t>	Input layer (224×224×3)</a:t>
            </a:r>
          </a:p>
          <a:p>
            <a:r>
              <a:rPr lang="en-IN" sz="2000" dirty="0"/>
              <a:t>	Global Average Pooling</a:t>
            </a:r>
          </a:p>
          <a:p>
            <a:r>
              <a:rPr lang="en-IN" sz="2000" dirty="0"/>
              <a:t>	Dropout (0.3)</a:t>
            </a:r>
          </a:p>
          <a:p>
            <a:r>
              <a:rPr lang="en-IN" sz="2000" dirty="0"/>
              <a:t>	</a:t>
            </a:r>
            <a:r>
              <a:rPr lang="en-IN" sz="2000" dirty="0" err="1"/>
              <a:t>Softmax</a:t>
            </a:r>
            <a:r>
              <a:rPr lang="en-IN" sz="2000" dirty="0"/>
              <a:t> output (4 classes)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Trained with augmented and normalized CT scan images.</a:t>
            </a:r>
          </a:p>
        </p:txBody>
      </p:sp>
    </p:spTree>
    <p:extLst>
      <p:ext uri="{BB962C8B-B14F-4D97-AF65-F5344CB8AC3E}">
        <p14:creationId xmlns:p14="http://schemas.microsoft.com/office/powerpoint/2010/main" val="2077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6BA4E5-DAF5-FC17-5FE6-FF96D3F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048B6DB-13DF-F440-ADCD-67CCFBB2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CF23B-EFA0-C024-404E-D2D63A1F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80" y="-566655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Simulation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CAF5A5-5187-ADB4-D0A3-2D0CAAC07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F6E61F-D0BB-CA61-E12F-B434D2DBE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B0198E4B-CF5C-0B9A-7A27-1C257246BA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6459B82-CE82-B39D-6A3F-35A218412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252" y="1467356"/>
            <a:ext cx="628620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Dataset:</a:t>
            </a:r>
            <a:r>
              <a:rPr lang="en-IN" dirty="0"/>
              <a:t> Kaggle CT-Scan Dataset (1000 images, 4 classes)</a:t>
            </a:r>
          </a:p>
          <a:p>
            <a:pPr lvl="1"/>
            <a:r>
              <a:rPr lang="en-IN" dirty="0"/>
              <a:t>Adenocarcinoma (338)</a:t>
            </a:r>
          </a:p>
          <a:p>
            <a:pPr lvl="1"/>
            <a:r>
              <a:rPr lang="en-IN" dirty="0"/>
              <a:t>Large Cell Carcinoma (187)</a:t>
            </a:r>
          </a:p>
          <a:p>
            <a:pPr lvl="1"/>
            <a:r>
              <a:rPr lang="en-IN" dirty="0"/>
              <a:t>Squamous Cell Carcinoma (260)</a:t>
            </a:r>
          </a:p>
          <a:p>
            <a:pPr lvl="1"/>
            <a:r>
              <a:rPr lang="en-IN" dirty="0"/>
              <a:t>Normal (215)</a:t>
            </a:r>
          </a:p>
          <a:p>
            <a:r>
              <a:rPr lang="en-IN" b="1" dirty="0"/>
              <a:t>Preprocessing:</a:t>
            </a:r>
            <a:endParaRPr lang="en-IN" dirty="0"/>
          </a:p>
          <a:p>
            <a:pPr lvl="1"/>
            <a:r>
              <a:rPr lang="en-IN" dirty="0"/>
              <a:t>Resizing (224×224)</a:t>
            </a:r>
          </a:p>
          <a:p>
            <a:pPr lvl="1"/>
            <a:r>
              <a:rPr lang="en-IN" dirty="0"/>
              <a:t>White balancing</a:t>
            </a:r>
          </a:p>
          <a:p>
            <a:pPr lvl="1"/>
            <a:r>
              <a:rPr lang="en-IN" dirty="0"/>
              <a:t>CLAHE enhancement</a:t>
            </a:r>
          </a:p>
          <a:p>
            <a:pPr lvl="1"/>
            <a:r>
              <a:rPr lang="en-IN" dirty="0"/>
              <a:t>Normalization ([0,1])</a:t>
            </a:r>
          </a:p>
          <a:p>
            <a:r>
              <a:rPr lang="en-IN" b="1" dirty="0"/>
              <a:t>Training Setup:</a:t>
            </a:r>
            <a:endParaRPr lang="en-IN" dirty="0"/>
          </a:p>
          <a:p>
            <a:pPr lvl="1"/>
            <a:r>
              <a:rPr lang="en-IN" dirty="0"/>
              <a:t>5-fold cross-validation</a:t>
            </a:r>
          </a:p>
          <a:p>
            <a:pPr lvl="1"/>
            <a:r>
              <a:rPr lang="en-IN" dirty="0"/>
              <a:t>Optimizer: Adam</a:t>
            </a:r>
          </a:p>
          <a:p>
            <a:pPr lvl="1"/>
            <a:r>
              <a:rPr lang="en-IN" dirty="0"/>
              <a:t>Epochs: 10</a:t>
            </a:r>
          </a:p>
          <a:p>
            <a:pPr lvl="1"/>
            <a:r>
              <a:rPr lang="en-IN" dirty="0"/>
              <a:t>Evaluation metrics: Accuracy, Precision, Recall, F1-score</a:t>
            </a:r>
          </a:p>
        </p:txBody>
      </p:sp>
    </p:spTree>
    <p:extLst>
      <p:ext uri="{BB962C8B-B14F-4D97-AF65-F5344CB8AC3E}">
        <p14:creationId xmlns:p14="http://schemas.microsoft.com/office/powerpoint/2010/main" val="393037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99AF1-578C-BEC7-992B-F37209B69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AFF28DB-3022-9AE0-E6ED-89E177E7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5A1CC-71D5-1D0A-A054-F4934C59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Result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87FD8-CEC3-D9E8-58E8-91C55962A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IN" sz="2000" b="1" dirty="0"/>
              <a:t>MobileNetV2</a:t>
            </a:r>
            <a:r>
              <a:rPr lang="en-IN" sz="2000" dirty="0"/>
              <a:t> achieved </a:t>
            </a:r>
            <a:r>
              <a:rPr lang="en-IN" sz="2000" b="1" dirty="0"/>
              <a:t>96% accuracy</a:t>
            </a:r>
            <a:r>
              <a:rPr lang="en-IN" sz="2000" dirty="0"/>
              <a:t>—best among tested models.</a:t>
            </a:r>
          </a:p>
          <a:p>
            <a:r>
              <a:rPr lang="en-IN" sz="2000" b="1" dirty="0"/>
              <a:t>EfficientNetV2:</a:t>
            </a:r>
            <a:r>
              <a:rPr lang="en-IN" sz="2000" dirty="0"/>
              <a:t> 95%, </a:t>
            </a:r>
            <a:r>
              <a:rPr lang="en-IN" sz="2000" b="1" dirty="0"/>
              <a:t>DenseNet121:</a:t>
            </a:r>
            <a:r>
              <a:rPr lang="en-IN" sz="2000" dirty="0"/>
              <a:t> 91%, </a:t>
            </a:r>
            <a:r>
              <a:rPr lang="en-IN" sz="2000" b="1" dirty="0"/>
              <a:t>ResNet50:</a:t>
            </a:r>
            <a:r>
              <a:rPr lang="en-IN" sz="2000" dirty="0"/>
              <a:t> 84%.</a:t>
            </a:r>
          </a:p>
          <a:p>
            <a:r>
              <a:rPr lang="en-IN" sz="2000" dirty="0"/>
              <a:t>Stable training and validation curves show strong generalization.</a:t>
            </a:r>
          </a:p>
          <a:p>
            <a:r>
              <a:rPr lang="en-IN" sz="2000" dirty="0"/>
              <a:t>Attention mechanism improved focus on key lung regions.</a:t>
            </a:r>
          </a:p>
          <a:p>
            <a:r>
              <a:rPr lang="en-IN" sz="2000" dirty="0"/>
              <a:t>Explainable AI tools (Grad-CAM, LIME) visualized model decision areas.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61387A-D2CF-B83D-46A1-E5112D3F6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189AA1-8B48-0023-1FF8-DFACB3C97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AE60887A-DA6E-D15A-7883-A107254B7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199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4EBA5-9702-40F6-3929-2D9DD2B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44DD87-B842-6A2C-4C19-828CE1303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41FE7-ACF2-70D8-55FE-F770114B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Conclusion &amp; Future Work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BC3E1B-2D96-9495-0F03-77621D506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6056C1-5074-4528-7D7D-4A4071A54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54FB27CE-D2FC-8675-EAA0-132BC27F68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4A577B2-902C-97CA-44BD-BF92DC0077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6650" y="2927123"/>
            <a:ext cx="1016061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lightweight, attention-enhanced CNN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multiclass lung cancer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(96%)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reduced computation.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Demonstrated strong interpretability and clinical potential.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Expand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Explore 3D volumetric CT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Apply ensemble and hybrid models for better diagnostics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76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5D3C-68A1-57C7-BD68-8A4DDBDD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7CE12AA-1C03-9E46-DB28-08CBE0A91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12C76-E70A-6E88-EC92-BBA137390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References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5E2101-2555-E33B-A702-7B6D83A7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56BB5-8463-0225-206F-ABCB43118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1729A5C1-74FA-37BA-9E90-E71444B74E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1CA1176-5A95-40B7-05DC-41062ACD00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2509" y="2732185"/>
            <a:ext cx="45534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Reem et al., IEEE ICECE 2024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Firdaus et al., IES 2020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Binson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Subramoniam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ICCSDET 2018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Shafiq et al., ICOSST 2022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Sultana et al., EICT 2021</a:t>
            </a:r>
          </a:p>
        </p:txBody>
      </p:sp>
    </p:spTree>
    <p:extLst>
      <p:ext uri="{BB962C8B-B14F-4D97-AF65-F5344CB8AC3E}">
        <p14:creationId xmlns:p14="http://schemas.microsoft.com/office/powerpoint/2010/main" val="202449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420BC-BB92-5F38-D0EC-2AA61C0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8BF324-D5F0-E912-1399-B52BB762E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02915-EEB7-7253-41B1-23D03EC1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32" y="511424"/>
            <a:ext cx="9688296" cy="1642969"/>
          </a:xfrm>
        </p:spPr>
        <p:txBody>
          <a:bodyPr anchor="b">
            <a:normAutofit/>
          </a:bodyPr>
          <a:lstStyle/>
          <a:p>
            <a:pPr marL="2794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Reviewer Comments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736A8-DB5A-3343-84E7-6DDC5CE4D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sz="2000" dirty="0"/>
              <a:t>Clarified dataset preprocessing steps.</a:t>
            </a:r>
          </a:p>
          <a:p>
            <a:r>
              <a:rPr lang="en-US" sz="2000" dirty="0"/>
              <a:t>Added evaluation comparison among models.</a:t>
            </a:r>
          </a:p>
          <a:p>
            <a:r>
              <a:rPr lang="en-US" sz="2000" dirty="0"/>
              <a:t>Enhanced explainability discussion with Grad-CAM and LIME.</a:t>
            </a:r>
          </a:p>
          <a:p>
            <a:r>
              <a:rPr lang="en-US" sz="2000" dirty="0"/>
              <a:t>Provided practical scope for clinical integration.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520D80-9ED4-8584-7740-FE84BCADA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6DF2BD-6B17-41FF-EEA0-EC97FF6B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EEE-iSSSC 2025">
            <a:extLst>
              <a:ext uri="{FF2B5EF4-FFF2-40B4-BE49-F238E27FC236}">
                <a16:creationId xmlns:a16="http://schemas.microsoft.com/office/drawing/2014/main" id="{698FE7B3-0A8C-66C9-AFFA-4D810F241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987" y="14386"/>
            <a:ext cx="1406013" cy="7668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56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5353E-71BB-A44F-54B4-E3E127C6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3F7C6-522B-152B-6313-45D4872E66F4}"/>
              </a:ext>
            </a:extLst>
          </p:cNvPr>
          <p:cNvSpPr txBox="1"/>
          <p:nvPr/>
        </p:nvSpPr>
        <p:spPr>
          <a:xfrm>
            <a:off x="1612489" y="5063418"/>
            <a:ext cx="83574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Questions?</a:t>
            </a:r>
            <a:br>
              <a:rPr lang="fr-FR" sz="2800" dirty="0"/>
            </a:br>
            <a:r>
              <a:rPr lang="fr-FR" sz="2800" dirty="0"/>
              <a:t>Contact: akhilduddi95@gmail.com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4158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596</Words>
  <Application>Microsoft Office PowerPoint</Application>
  <PresentationFormat>Widescreen</PresentationFormat>
  <Paragraphs>82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2025 IEEE iSSSC</vt:lpstr>
      <vt:lpstr>Outline</vt:lpstr>
      <vt:lpstr>Introduction</vt:lpstr>
      <vt:lpstr>Motivation &amp; Core Contribution</vt:lpstr>
      <vt:lpstr>Literature Review</vt:lpstr>
      <vt:lpstr>Proposed System Model</vt:lpstr>
      <vt:lpstr>Simulation Setup</vt:lpstr>
      <vt:lpstr>Result and Discussion</vt:lpstr>
      <vt:lpstr>Conclusion &amp; Future Work</vt:lpstr>
      <vt:lpstr>References</vt:lpstr>
      <vt:lpstr>Reviewer Comments Addressed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Akhil Duddi</cp:lastModifiedBy>
  <cp:revision>9</cp:revision>
  <dcterms:created xsi:type="dcterms:W3CDTF">2025-10-21T04:39:10Z</dcterms:created>
  <dcterms:modified xsi:type="dcterms:W3CDTF">2026-02-11T06:34:37Z</dcterms:modified>
</cp:coreProperties>
</file>